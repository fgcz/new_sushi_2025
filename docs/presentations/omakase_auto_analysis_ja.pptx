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2000250"/>
            <a:ext cx="104775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rial"/>
                <a:ea typeface="Noto Sans JP"/>
                <a:cs typeface="Arial"/>
              </a:rPr>
              <a:t>OMAKASE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048000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rial"/>
                <a:ea typeface="Noto Sans JP"/>
                <a:cs typeface="Arial"/>
              </a:rPr>
              <a:t>受注シーケンスの自動一次解析 — システム構成案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8100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4DC9F6"/>
                </a:solidFill>
                <a:latin typeface="Arial"/>
                <a:ea typeface="Noto Sans JP"/>
                <a:cs typeface="Arial"/>
              </a:rPr>
              <a:t>— Rules decide · AI assists · Humans release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00075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>
                <a:solidFill>
                  <a:srgbClr val="4DC9F6"/>
                </a:solidFill>
                <a:latin typeface="Arial"/>
                <a:ea typeface="Noto Sans JP"/>
                <a:cs typeface="Arial"/>
              </a:rPr>
              <a:t>FGCZ Genomics · 2026 · Masaomi Hatakeyama · v0.3（構成案・実装は未着手）</a:t>
            </a:r>
          </a:p>
        </p:txBody>
      </p:sp>
      <p:sp>
        <p:nvSpPr>
          <p:cNvPr id="8" name="Oval 7"/>
          <p:cNvSpPr/>
          <p:nvPr/>
        </p:nvSpPr>
        <p:spPr>
          <a:xfrm>
            <a:off x="10820400" y="60198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53750" y="60198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87100" y="60198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20450" y="60198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53800" y="60198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87150" y="60198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20400" y="615315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53750" y="615315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087100" y="615315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20450" y="615315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53800" y="615315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87150" y="615315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20400" y="62865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53750" y="62865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87100" y="62865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20450" y="62865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53800" y="62865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87150" y="6286500"/>
            <a:ext cx="76200" cy="76200"/>
          </a:xfrm>
          <a:prstGeom prst="ellipse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背景 · 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すべての完了オーダーに一次解析を提案する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00150"/>
            <a:ext cx="5400675" cy="436245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元のアイデア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シーケンス完了 → エージェントがオーダー情報を読む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解析を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提案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し、担当 bioinformatician に通知する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猶予時間内に応答がなければ、その解析を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開始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する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完了後に整合性を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確認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し、人が結果を顧客へ渡す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Phase 1 では、すべて bioinformatician を経由する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9825" y="1200150"/>
            <a:ext cx="5400675" cy="436245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この資料で決めること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どの層が何を担い、誰が持つか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既存の何を再利用し、本当に新規なのは何か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AI に何を見せるか。推論をどこで行うか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実オーダーで動かす前に、どう検証するか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決めないこと：実装。コードはまだ1行も書いていません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5676900"/>
            <a:ext cx="11049000" cy="4572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5676900"/>
            <a:ext cx="38100" cy="457200"/>
          </a:xfrm>
          <a:prstGeom prst="rect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900" y="5753100"/>
            <a:ext cx="1074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設計の前提：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価値は「AI が解析を選ぶこと」ではありません。すべてのオーダーに、役に立つ早さで一次解析が付き、かつ人がいつでも止められること、です。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設計 · 5つの決定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これ以外はすべてこの5つから決まる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200150"/>
            <a:ext cx="11049000" cy="4362450"/>
          </a:xfrm>
          <a:prstGeom prst="rect">
            <a:avLst/>
          </a:prstGeom>
          <a:noFill/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200150"/>
            <a:ext cx="609600" cy="872490"/>
          </a:xfrm>
          <a:prstGeom prst="rect">
            <a:avLst/>
          </a:prstGeom>
          <a:solidFill>
            <a:srgbClr val="FFF4E2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1100" y="1200150"/>
            <a:ext cx="5532882" cy="872490"/>
          </a:xfrm>
          <a:prstGeom prst="rect">
            <a:avLst/>
          </a:prstGeom>
          <a:solidFill>
            <a:srgbClr val="FFF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750" y="1247775"/>
            <a:ext cx="419100" cy="796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EA6B13"/>
                </a:solidFill>
                <a:latin typeface="Arial"/>
                <a:ea typeface="Noto Sans JP"/>
                <a:cs typeface="Arial"/>
              </a:rPr>
              <a:t>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6350" y="1247775"/>
            <a:ext cx="5342382" cy="796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同意ダイアログを置かない。データ最小化で対応する。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9232" y="1247775"/>
            <a:ext cx="4716018" cy="796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機密性のないオーダー項目だけを読み、オンプレのモデルだけを使う。顧客には許可を求めるのではなく説明する。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2072640"/>
            <a:ext cx="609600" cy="872490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750" y="2120265"/>
            <a:ext cx="419100" cy="796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D2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50" y="2120265"/>
            <a:ext cx="5342382" cy="796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版管理された recipe カタログが決める。LLM は補助のみ。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9232" y="2120265"/>
            <a:ext cx="4716018" cy="796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ルールは bioinformatician がレビューし承認できる。プロンプトはできない。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207264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2945130"/>
            <a:ext cx="609600" cy="872490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750" y="2992755"/>
            <a:ext cx="419100" cy="796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D3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6350" y="2992755"/>
            <a:ext cx="5342382" cy="796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QC はまず決定論的に。LLM は文章を書くだけ。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9232" y="2992755"/>
            <a:ext cx="4716018" cy="796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実行したモデルの自己申告は証拠にしない。判定は測定値から出す。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294513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" y="3817620"/>
            <a:ext cx="609600" cy="872490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750" y="3865244"/>
            <a:ext cx="419100" cy="796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D4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6350" y="3865244"/>
            <a:ext cx="5342382" cy="796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常時起動する部分は素のコード。LLM ではない。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9232" y="3865244"/>
            <a:ext cx="4716018" cy="796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監視・タイマー・状態機械はふつうのソフトウェア。モデルはイベントごとに呼ぶ。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381762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1500" y="4690110"/>
            <a:ext cx="609600" cy="872490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750" y="4737734"/>
            <a:ext cx="419100" cy="796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D5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6350" y="4737734"/>
            <a:ext cx="5342382" cy="796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猶予時間は営業時間で数える。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9232" y="4737734"/>
            <a:ext cx="4716018" cy="7962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しかも、通知が届いたことを確認してから計時を始める。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469011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1500" y="5676900"/>
            <a:ext cx="11049000" cy="4572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1500" y="5676900"/>
            <a:ext cx="38100" cy="457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3900" y="5753100"/>
            <a:ext cx="1074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副産物：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決定層がルールエンジンなので、モデルが使えない時も、AI 処理から意図的に除外したオーダー種でも、サービスは動き続けます。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再現性 · 安全性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決定論的にすることが、LLM を安全にする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200150"/>
            <a:ext cx="11049000" cy="59055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200150"/>
            <a:ext cx="38100" cy="590550"/>
          </a:xfrm>
          <a:prstGeom prst="rect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127635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2つの軸を別々に閉じる。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データ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AI に何を見せるか。項目許可リストで閉じる。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権限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AI に何を決めさせるか。recipe カタログで閉じる。渡すデータを絞っても、決定をモデルに委ねれば再現できません。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" y="1905000"/>
          <a:ext cx="11048999" cy="264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4095750"/>
                <a:gridCol w="3905249"/>
              </a:tblGrid>
              <a:tr h="377825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仕事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決めるのは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LLM の役割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</a:tr>
              <a:tr h="377825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どの app 連鎖を回すか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recipe の判定条件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なし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パラメータ（参照ゲノム・cores・ram）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recipe ＋ 種 → 参照ゲノム表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なし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複数 recipe が該当／該当なし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LLM が</a:t>
                      </a:r>
                      <a:r>
                        <a:rPr sz="90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既存の recipe id から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選ぶ。確信度が低ければ人に保留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制約付きの選択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提案文・QC 所見文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テンプレート ＋ LLM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文章を書く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QC の合否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実行前に宣言した決定論的な3階層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下げる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ことだけ可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失敗の原因調査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LLM エージェント（人が起動）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本格的なエージェント作業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1500" y="4533900"/>
            <a:ext cx="11049000" cy="895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– 記録から再現できる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recipe id と版、解決済みパラメータ、入力 dataset、QC 仕様のハッシュ。モデルもプロンプトも温度も seed も関与しません</a:t>
            </a:r>
          </a:p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– 影響範囲が閉じる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LLM の誤りで起きる最悪は「レビュー済み recipe の中から誤ったものを選ぶ」か「文章が下手」。未レビューのパイプラインは作れません</a:t>
            </a:r>
          </a:p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– クリティカルパスに乗らない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モデルが使えなくても、ルールが提案します</a:t>
            </a:r>
          </a:p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– 事故のときに答えられる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—「なぜこれを回したか」に recipe の版と作成者で答えられます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5543550"/>
            <a:ext cx="11049000" cy="59055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5543550"/>
            <a:ext cx="38100" cy="5905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561975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正直な限界：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決定論的にしても recipe が正しくなるわけではありません。レビュー可能・テスト可能・帰属可能になるだけです。正しさは recipe を書く bioinformatician と、同じ recipe の履歴と比較する Tier 3 QC から来ます。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Safety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SKILL · どこに効かせるか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838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Skill が調整するのは、AI の働き方。回す内容ではない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619250"/>
            <a:ext cx="11049000" cy="59055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619250"/>
            <a:ext cx="38100" cy="590550"/>
          </a:xfrm>
          <a:prstGeom prst="rect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169545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Skill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とは、エージェントが実行時に読み込む、版管理された指示と知識の単位です。どう調べるか・どう書くかを入れる場所としては正しく、どの解析を回すかを入れる場所としては誤りです。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1500" y="2324100"/>
          <a:ext cx="11048999" cy="146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00"/>
                <a:gridCol w="4190999"/>
                <a:gridCol w="3619500"/>
              </a:tblGrid>
              <a:tr h="2441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何を調整するか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調整するのは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使わないもの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</a:tr>
              <a:tr h="2441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どの解析を回すか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recipe YAML — 作成・レビュー・承認を経る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Skill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2441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QC の閾値とチェック内容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QC 仕様（recipe と同時に版管理）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Skill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2441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失敗をどう診断するか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Skill</a:t>
                      </a: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 — known errors、app ガイド、デバッグ手順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—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2441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所見をどう書くか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プロンプトテンプレート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—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2441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どのデータをどこへ送れるか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コード内の許可リスト。AI 利用ポリシーを基層として併用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Skill 単独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71500" y="3906954"/>
            <a:ext cx="5400675" cy="2227145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Skill が本当に効く場所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失敗の triage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known errors・app 開発ガイド・デバッグ手順を読み込み、ログ・gStore・SLURM を調べる。出力は人への提案で、実行ではありません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検証の規律そのもの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実行前に evidence spec を宣言し、fail-closed で判定し、仕様のハッシュと共に記録する。QC ゲートはその一実装です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組織のガードレールを基層として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AI 利用ポリシーを Skill として読み込み、全エージェントが継承します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再デプロイなしの調整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triage の質を上げるのは Skill の編集で、デーモンの変更ではありません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9825" y="3906954"/>
            <a:ext cx="5400675" cy="2227145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やってはいけない形と、1つの注意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Skill の中に解析の選択を書くこと —「RNA-seq なら STAR → FeatureCounts」。動いてしまいますが、設計全体を静かに無効化します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挙動が「どの Skill 版を読んだか」に依存し、記録が自己説明できなくなります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Skill は出自付きのプロンプトです。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一貫性を上げ、挙動を帰属可能にします。エージェントの結論を証拠に変えるものではありません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だから triage の出力は助言に留め、その下に機械的な判定を置きます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Skills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構成 · 7つの層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各層に持ち主を1つだけ置く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200150"/>
            <a:ext cx="11049000" cy="4229100"/>
          </a:xfrm>
          <a:prstGeom prst="rect">
            <a:avLst/>
          </a:prstGeom>
          <a:noFill/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200150"/>
            <a:ext cx="609600" cy="604157"/>
          </a:xfrm>
          <a:prstGeom prst="rect">
            <a:avLst/>
          </a:prstGeom>
          <a:solidFill>
            <a:srgbClr val="FFF4E2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1100" y="1200150"/>
            <a:ext cx="5532882" cy="604157"/>
          </a:xfrm>
          <a:prstGeom prst="rect">
            <a:avLst/>
          </a:prstGeom>
          <a:solidFill>
            <a:srgbClr val="FFF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750" y="1247775"/>
            <a:ext cx="419100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EA6B13"/>
                </a:solidFill>
                <a:latin typeface="Arial"/>
                <a:ea typeface="Noto Sans JP"/>
                <a:cs typeface="Arial"/>
              </a:rPr>
              <a:t>L0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6350" y="1247775"/>
            <a:ext cx="5342382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データ最小化 — AI に何を見せるのか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9232" y="1247775"/>
            <a:ext cx="4716018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コード内の項目許可リスト · オンプレのモデルのみ · 顧客には説明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804307"/>
            <a:ext cx="609600" cy="604157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750" y="1851932"/>
            <a:ext cx="419100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L1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50" y="1851932"/>
            <a:ext cx="5342382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トリガー — order X のシーケンスが終わった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9232" y="1851932"/>
            <a:ext cx="4716018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omakase-core の watcher が </a:t>
            </a:r>
            <a:r>
              <a:rPr sz="940" b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B-Fabric DB</a:t>
            </a: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 をポーリング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804307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2408464"/>
            <a:ext cx="609600" cy="604157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750" y="2456089"/>
            <a:ext cx="419100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L2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6350" y="2456089"/>
            <a:ext cx="5342382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決定 — どの解析を、どのパラメータで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9232" y="2456089"/>
            <a:ext cx="4716018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recipe カタログ（版管理）· LLM は曖昧ケースの tie-break のみ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2408464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" y="3012621"/>
            <a:ext cx="609600" cy="604157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750" y="3060246"/>
            <a:ext cx="419100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L3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6350" y="3060246"/>
            <a:ext cx="5342382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ゲート — 人が止める時間を置いて、開始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9232" y="3060246"/>
            <a:ext cx="4716018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状態機械 ＋ 営業時間タイマー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3012621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1500" y="3616778"/>
            <a:ext cx="609600" cy="604157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750" y="3664403"/>
            <a:ext cx="419100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L4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6350" y="3664403"/>
            <a:ext cx="5342382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実行 — 走らせる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9232" y="3664403"/>
            <a:ext cx="4716018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SUSHI backend REST API → job_manager → SLURM → gStore </a:t>
            </a:r>
            <a:r>
              <a:rPr sz="940" b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（既存）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3616778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1500" y="4220935"/>
            <a:ext cx="609600" cy="604157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6750" y="4268560"/>
            <a:ext cx="419100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L5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76350" y="4268560"/>
            <a:ext cx="5342382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QC — 結果は正気か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09232" y="4268560"/>
            <a:ext cx="4716018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決定論的チェック · LLM は所見文のみ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4220935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1500" y="4825092"/>
            <a:ext cx="609600" cy="604157"/>
          </a:xfrm>
          <a:prstGeom prst="rect">
            <a:avLst/>
          </a:prstGeom>
          <a:solidFill>
            <a:srgbClr val="EEF1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6750" y="4872717"/>
            <a:ext cx="419100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10"/>
              </a:lnSpc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L6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76350" y="4872717"/>
            <a:ext cx="5342382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0"/>
              </a:lnSpc>
            </a:pPr>
            <a:r>
              <a:rPr sz="101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リリース — 顧客に伝える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09232" y="4872717"/>
            <a:ext cx="4716018" cy="5279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0"/>
              </a:lnSpc>
            </a:pPr>
            <a:r>
              <a:rPr sz="94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Phase 1: bioinformatician · Phase 2: recipe 単位で自動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" y="4825092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1500" y="5543550"/>
            <a:ext cx="11049000" cy="59055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1500" y="5543550"/>
            <a:ext cx="38100" cy="590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3900" y="561975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新規に作るものは1つだけ：</a:t>
            </a:r>
            <a:r>
              <a:rPr sz="1090" b="0">
                <a:solidFill>
                  <a:srgbClr val="000000"/>
                </a:solidFill>
                <a:latin typeface="Consolas"/>
                <a:ea typeface="Noto Sans JP"/>
                <a:cs typeface="Consolas"/>
              </a:rPr>
              <a:t>omakase-core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という小さなデーモン。L4 以下はすべて既存のものを無改造で使います。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SUSHI 側にこの企画のために作ったものはありません。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4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L0 · データ最小化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読まないデータの許可は、求めなくてよい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00150"/>
            <a:ext cx="3416300" cy="85725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9050">
            <a:solidFill>
              <a:srgbClr val="003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5325" y="1295400"/>
            <a:ext cx="316865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80"/>
              </a:lnSpc>
              <a:spcAft>
                <a:spcPts val="220"/>
              </a:spcAft>
            </a:pPr>
            <a:r>
              <a:rPr sz="10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B-Fabric の order レコード</a:t>
            </a:r>
          </a:p>
          <a:p>
            <a:pPr algn="l">
              <a:lnSpc>
                <a:spcPts val="1280"/>
              </a:lnSpc>
            </a:pPr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多数の項目を持つ。顧客名・連絡先・課題名・サンプル名・フリーテキストのコメントなど。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64000" y="1543050"/>
            <a:ext cx="247649" cy="171450"/>
          </a:xfrm>
          <a:prstGeom prst="rightArrow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7850" y="1200150"/>
            <a:ext cx="3416300" cy="85725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9050">
            <a:solidFill>
              <a:srgbClr val="EA6B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675" y="1295400"/>
            <a:ext cx="316865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80"/>
              </a:lnSpc>
              <a:spcAft>
                <a:spcPts val="220"/>
              </a:spcAft>
            </a:pPr>
            <a:r>
              <a:rPr sz="10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項目許可リスト（コードで固定）</a:t>
            </a:r>
          </a:p>
          <a:p>
            <a:pPr algn="l">
              <a:lnSpc>
                <a:spcPts val="1280"/>
              </a:lnSpc>
            </a:pPr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Service Type · Sequencing Application · Species · Instrument · Library Protocol · サンプル数・レイアウト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80350" y="1543050"/>
            <a:ext cx="247649" cy="171450"/>
          </a:xfrm>
          <a:prstGeom prst="rightArrow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04200" y="1200150"/>
            <a:ext cx="3416300" cy="85725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8025" y="1295400"/>
            <a:ext cx="316865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80"/>
              </a:lnSpc>
              <a:spcAft>
                <a:spcPts val="220"/>
              </a:spcAft>
            </a:pPr>
            <a:r>
              <a:rPr sz="10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ローカルモデル</a:t>
            </a:r>
          </a:p>
          <a:p>
            <a:pPr algn="l">
              <a:lnSpc>
                <a:spcPts val="1280"/>
              </a:lnSpc>
            </a:pPr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オンプレで推論。FGCZ 網から出ない。外部クラウドは一切使わない。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2171700"/>
            <a:ext cx="5400675" cy="325755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3つのルール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マスクではなく許可リスト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リスト外は取得しない。取得しなければスクラバのバグでも漏れない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オンプレのモデルのみ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—「どのツールがどの分類まで許されるか」の表が消える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raw data とログ本文は渡さない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QC は数値メトリクスのみ。ログにはパスやサンプル名が入る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9825" y="2171700"/>
            <a:ext cx="5400675" cy="325755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顧客への説明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ダイアログもチェックボックスも置かない。1文で伝える：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“Experiment parameters will be processed by a local AI model.”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文面と掲載場所は、顧客向け文書の担当と要確認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5543550"/>
            <a:ext cx="11049000" cy="59055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5543550"/>
            <a:ext cx="38100" cy="5905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900" y="561975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残る注意点：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これが成り立つのは、送信内容が許可リストの内側にとどまる限りです。許可リストは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セキュリティ境界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として扱い、コードで強制し、変更はレビュー対象にします。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5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経路 · 既存の再利用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B-Fabric から SLURM まで、既にあるものを通す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00150"/>
            <a:ext cx="2462212" cy="933449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9050">
            <a:solidFill>
              <a:srgbClr val="003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5325" y="1295400"/>
            <a:ext cx="2214562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80"/>
              </a:lnSpc>
              <a:spcAft>
                <a:spcPts val="220"/>
              </a:spcAft>
            </a:pPr>
            <a:r>
              <a:rPr sz="10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B-Fabric DB</a:t>
            </a:r>
          </a:p>
          <a:p>
            <a:pPr algn="l">
              <a:lnSpc>
                <a:spcPts val="1280"/>
              </a:lnSpc>
            </a:pPr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数分ごとにポーリング —「order X の新データが gStore に来た」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9912" y="1581150"/>
            <a:ext cx="247649" cy="171450"/>
          </a:xfrm>
          <a:prstGeom prst="rightArrow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33762" y="1200150"/>
            <a:ext cx="2462212" cy="933449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9050">
            <a:solidFill>
              <a:srgbClr val="EA6B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7587" y="1295400"/>
            <a:ext cx="2214562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80"/>
              </a:lnSpc>
              <a:spcAft>
                <a:spcPts val="220"/>
              </a:spcAft>
            </a:pPr>
            <a:r>
              <a:rPr sz="10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omakase-core</a:t>
            </a:r>
          </a:p>
          <a:p>
            <a:pPr algn="l">
              <a:lnSpc>
                <a:spcPts val="1280"/>
              </a:lnSpc>
            </a:pPr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許可リスト → recipe エンジン → 提案 → タイマー。状態は自前DB。SUSHI スキーマに DDL はかけない。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72175" y="1581150"/>
            <a:ext cx="247649" cy="171450"/>
          </a:xfrm>
          <a:prstGeom prst="rightArrow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96025" y="1200150"/>
            <a:ext cx="2462212" cy="933449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9050">
            <a:solidFill>
              <a:srgbClr val="003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850" y="1295400"/>
            <a:ext cx="2214562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80"/>
              </a:lnSpc>
              <a:spcAft>
                <a:spcPts val="220"/>
              </a:spcAft>
            </a:pPr>
            <a:r>
              <a:rPr sz="10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SUSHI backend REST API</a:t>
            </a:r>
          </a:p>
          <a:p>
            <a:pPr algn="l">
              <a:lnSpc>
                <a:spcPts val="1280"/>
              </a:lnSpc>
            </a:pPr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project スコープ付きトークンでジョブを POST する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34437" y="1581150"/>
            <a:ext cx="247649" cy="171450"/>
          </a:xfrm>
          <a:prstGeom prst="rightArrow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58287" y="1200150"/>
            <a:ext cx="2462212" cy="933449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9050">
            <a:solidFill>
              <a:srgbClr val="003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2112" y="1295400"/>
            <a:ext cx="2214562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80"/>
              </a:lnSpc>
              <a:spcAft>
                <a:spcPts val="220"/>
              </a:spcAft>
            </a:pPr>
            <a:r>
              <a:rPr sz="10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job_manager → SLURM → gStore</a:t>
            </a:r>
          </a:p>
          <a:p>
            <a:pPr algn="l">
              <a:lnSpc>
                <a:spcPts val="1280"/>
              </a:lnSpc>
            </a:pPr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既存経路、無改造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" y="2247900"/>
            <a:ext cx="5400675" cy="38862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REST 経由にすると自動的に付いてくるもの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トークンによる project スコープの強制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Consolas"/>
                <a:ea typeface="Noto Sans JP"/>
                <a:cs typeface="Consolas"/>
              </a:rPr>
              <a:t>required_params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ゲート — 未解決の参照パラメータが SLURM に届かない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サンプル単位の展開と、legacy 互換の出力カラム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共有本番DBを壊せる経路が存在しない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9825" y="2247900"/>
            <a:ext cx="5400675" cy="38862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recipe とは（1行で）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許可リスト項目に対する判定条件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解決済みパラメータ付きの app 連鎖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QC 仕様・計算予算・自動開始フラグ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bioinformatician が書き、git で版管理し、実行ごとに </a:t>
            </a:r>
            <a:r>
              <a:rPr sz="1090" b="0">
                <a:solidFill>
                  <a:srgbClr val="000000"/>
                </a:solidFill>
                <a:latin typeface="Consolas"/>
                <a:ea typeface="Noto Sans JP"/>
                <a:cs typeface="Consolas"/>
              </a:rPr>
              <a:t>recipe_id@version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を記録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6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L3 · ゲート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時間で動くのは、この1か所だけ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00150"/>
            <a:ext cx="5438775" cy="192369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200150"/>
            <a:ext cx="38100" cy="192369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950" y="1314450"/>
            <a:ext cx="5095875" cy="1733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spcAft>
                <a:spcPts val="450"/>
              </a:spcAft>
            </a:pPr>
            <a:r>
              <a:rPr sz="819" b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素の4時間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金曜17:00 に完了したオーダーは 金 21:00 に自動開始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誰も見ていない。veto できる人がいない。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失敗しても月曜まで放置される。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725" y="1200150"/>
            <a:ext cx="5438775" cy="192369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1200150"/>
            <a:ext cx="38100" cy="192369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3175" y="1314450"/>
            <a:ext cx="5095875" cy="1733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00"/>
              </a:lnSpc>
              <a:spcAft>
                <a:spcPts val="450"/>
              </a:spcAft>
            </a:pPr>
            <a:r>
              <a:rPr sz="819" b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営業時間4時間 ＋ 下限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平日 08:00–18:00、翌営業日 10:00 より前には発火しない → 月 10:00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実際の猶予は2営業日以上になる。</a:t>
            </a:r>
          </a:p>
          <a:p>
            <a:pPr algn="l">
              <a:lnSpc>
                <a:spcPts val="1500"/>
              </a:lnSpc>
            </a:pPr>
            <a:r>
              <a:rPr sz="105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担当者が出勤時に veto / override できる。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238140"/>
            <a:ext cx="5400675" cy="2324459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タイマー周りのルール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通知を投稿し、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読み戻して確認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してから計時を始める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確信度が低い・未許可 recipe・予算超過 →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保留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。人が解除しないと動かない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失敗しても自動再実行はしない。人に通知する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全体停止スイッチ。project 単位・顧客単位・recipe 単位の opt-out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9825" y="3238140"/>
            <a:ext cx="5400675" cy="2324459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初日から使える人間側の操作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期限付きで、応答待ちの提案を一覧する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veto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、別の解析での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override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、計時の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停止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QC レポートを読んでから、結果を顧客へ 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release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コマンドラインで動く — Phase 1 に UI は不要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5676900"/>
            <a:ext cx="11049000" cy="4572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676900"/>
            <a:ext cx="38100" cy="457200"/>
          </a:xfrm>
          <a:prstGeom prst="rect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900" y="5753100"/>
            <a:ext cx="1074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他の遷移はすべてイベントか人の操作で動きます。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この系全体で、時間によって進む遷移は1本だけ。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7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チャット窓口 · SLACK /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veto の時間を守る「秘書」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200150"/>
            <a:ext cx="11049000" cy="59055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200150"/>
            <a:ext cx="38100" cy="590550"/>
          </a:xfrm>
          <a:prstGeom prst="rect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127635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ここまでの3チャネルは「人が操作できるか」に答えるものです。bot が答えるのは別の問いです。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人は間に合うタイミングで気づくか。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ゲート全体で最も弱いのがここで、読まれないコメントは veto の時間を形式だけのものにします。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1905000"/>
            <a:ext cx="5400675" cy="2619375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投稿する内容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毎朝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応答待ちの提案と期限のカウントダウン。前日以降に完了・失敗したジョブ。レビュー待ちの QC 警告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新しい提案時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order・recipe・解決済みパラメータ・費用見積・期限。veto と保留の操作を付ける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期限1時間前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対応すべき担当者名を添えたリマインド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随時の問い合わせ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—「order X の状況」「この project の未処理」「job 581 はなぜ失敗したか」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905000"/>
            <a:ext cx="5400675" cy="2619375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133350" bIns="76200" wrap="square"/>
          <a:lstStyle/>
          <a:p>
            <a:pPr algn="l">
              <a:lnSpc>
                <a:spcPts val="1580"/>
              </a:lnSpc>
              <a:spcAft>
                <a:spcPts val="600"/>
              </a:spcAft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2層構造 — その境界が統治の境界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Tier A・能動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ダイジェスト、アラート、期限リマインド。素のコードで「状態を引く→整形→投稿」。LLM なし。ただのスケジュール実行なので無人で回せる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Tier B・受動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スレッド内の自由記述の質問に、Skill を参照するエージェントが1メッセージ＝1タスクで答える</a:t>
            </a:r>
          </a:p>
          <a:p>
            <a:pPr algn="l">
              <a:lnSpc>
                <a:spcPts val="1580"/>
              </a:lnSpc>
              <a:spcAft>
                <a:spcPts val="220"/>
              </a:spcAft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チャットのメッセージは、人が起動した呼び出しです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— 誰かが打ち込み、スレッドで答えを待っています。つまり会話層は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構造的に attended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であり、他の場面でエージェント利用を止めていた条件をここでは満たします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638675"/>
            <a:ext cx="11049000" cy="790575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638675"/>
            <a:ext cx="38100" cy="7905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4714875"/>
            <a:ext cx="10744200" cy="657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制約。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Slack と Teams は外部クラウドです。モデルと同じ分類の問題が、今度は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転送経路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について発生します。機関テナントの Teams が安全側の既定で、Slack はポリシー確認が必要です。bot も許可リストを継承します。識別子・状態・期限は投稿してよく、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サンプル名や結果の内容は投稿しません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。操作を許す前にチャット ID と LDAP ログインの対応付けが必要です。Phase 1 は、閲覧・veto・保留までをチャットから、override と release は CLI から。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5543550"/>
            <a:ext cx="11049000" cy="590550"/>
          </a:xfrm>
          <a:prstGeom prst="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543550"/>
            <a:ext cx="38100" cy="5905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900" y="561975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作る順番：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朝のダイジェストを投げる outgoing webhook は1日程度の作業で、受信口も認証面も持たず、価値の大半を出します。ボタン操作と会話層は、ID 対応付けができてからです。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Chat surface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L5 · 品質チェック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判定は測定値から出す。モデルからは出さない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00150"/>
            <a:ext cx="3568700" cy="400050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200150"/>
            <a:ext cx="3568700" cy="38100"/>
          </a:xfrm>
          <a:prstGeom prst="rect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1314450"/>
            <a:ext cx="32639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Tier 1</a:t>
            </a:r>
          </a:p>
          <a:p>
            <a:pPr algn="l">
              <a:lnSpc>
                <a:spcPts val="1420"/>
              </a:lnSpc>
              <a:spcAft>
                <a:spcPts val="600"/>
              </a:spcAft>
            </a:pPr>
            <a:r>
              <a:rPr sz="819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構造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exit code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期待した出力が存在し、空でない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マニフェストが parse でき、行数＝サンプル数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OOM も traceback もない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実行時間が中央値の妥当な倍率内</a:t>
            </a:r>
          </a:p>
          <a:p>
            <a:pPr algn="l">
              <a:lnSpc>
                <a:spcPts val="1420"/>
              </a:lnSpc>
              <a:spcBef>
                <a:spcPts val="600"/>
              </a:spcBef>
            </a:pPr>
            <a:r>
              <a:rPr sz="819" b="0" i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絶対的・安価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1650" y="1200150"/>
            <a:ext cx="3568700" cy="400050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1650" y="1200150"/>
            <a:ext cx="35687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4050" y="1314450"/>
            <a:ext cx="32639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Tier 2</a:t>
            </a:r>
          </a:p>
          <a:p>
            <a:pPr algn="l">
              <a:lnSpc>
                <a:spcPts val="1420"/>
              </a:lnSpc>
              <a:spcAft>
                <a:spcPts val="600"/>
              </a:spcAft>
            </a:pPr>
            <a:r>
              <a:rPr sz="819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ドメイン指標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%uniquely mapped、%rRNA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library size 分布、duplication rate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検出遺伝子数、single cell の barcode knee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種と実験計画の妥当性チェック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閾値は recipe と一緒に版管理する</a:t>
            </a:r>
          </a:p>
          <a:p>
            <a:pPr algn="l">
              <a:lnSpc>
                <a:spcPts val="1420"/>
              </a:lnSpc>
              <a:spcBef>
                <a:spcPts val="600"/>
              </a:spcBef>
            </a:pPr>
            <a:r>
              <a:rPr sz="819" b="0" i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recipe ごと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1800" y="1200150"/>
            <a:ext cx="3568700" cy="40005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1800" y="1200150"/>
            <a:ext cx="3568700" cy="381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4200" y="1314450"/>
            <a:ext cx="32639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Tier 3</a:t>
            </a:r>
          </a:p>
          <a:p>
            <a:pPr algn="l">
              <a:lnSpc>
                <a:spcPts val="1420"/>
              </a:lnSpc>
              <a:spcAft>
                <a:spcPts val="600"/>
              </a:spcAft>
            </a:pPr>
            <a:r>
              <a:rPr sz="819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履歴比較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各指標を</a:t>
            </a: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同じ</a:t>
            </a: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recipe の直近 N 実行と比較する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ファイルが揃い、ジョブが成功していても外れ値を検出する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• 「パイプラインは成功したがデータが変」</a:t>
            </a: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を捕まえるのはここ</a:t>
            </a:r>
          </a:p>
          <a:p>
            <a:pPr algn="l">
              <a:lnSpc>
                <a:spcPts val="1420"/>
              </a:lnSpc>
              <a:spcBef>
                <a:spcPts val="600"/>
              </a:spcBef>
            </a:pPr>
            <a:r>
              <a:rPr sz="819" b="0" i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本質はここ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5314950"/>
            <a:ext cx="11049000" cy="819150"/>
          </a:xfrm>
          <a:prstGeom prst="roundRect">
            <a:avLst>
              <a:gd name="adj" fmla="val 4000"/>
            </a:avLst>
          </a:prstGeom>
          <a:solidFill>
            <a:srgbClr val="00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" y="5410200"/>
            <a:ext cx="105918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>
                <a:solidFill>
                  <a:srgbClr val="FFFFFF"/>
                </a:solidFill>
                <a:latin typeface="Arial"/>
                <a:ea typeface="Noto Sans JP"/>
                <a:cs typeface="Arial"/>
              </a:rPr>
              <a:t>判定基準は実行の</a:t>
            </a:r>
            <a:r>
              <a:rPr sz="1500" b="1">
                <a:solidFill>
                  <a:srgbClr val="4DC9F6"/>
                </a:solidFill>
                <a:latin typeface="Arial"/>
                <a:ea typeface="Noto Sans JP"/>
                <a:cs typeface="Arial"/>
              </a:rPr>
              <a:t>前</a:t>
            </a:r>
            <a:r>
              <a:rPr sz="1500" b="0">
                <a:solidFill>
                  <a:srgbClr val="FFFFFF"/>
                </a:solidFill>
                <a:latin typeface="Arial"/>
                <a:ea typeface="Noto Sans JP"/>
                <a:cs typeface="Arial"/>
              </a:rPr>
              <a:t>に宣言し、結果と一緒に記録する。 モデルは判定を</a:t>
            </a:r>
            <a:r>
              <a:rPr sz="1500" b="1">
                <a:solidFill>
                  <a:srgbClr val="4DC9F6"/>
                </a:solidFill>
                <a:latin typeface="Arial"/>
                <a:ea typeface="Noto Sans JP"/>
                <a:cs typeface="Arial"/>
              </a:rPr>
              <a:t>下げる</a:t>
            </a:r>
            <a:r>
              <a:rPr sz="1500" b="0">
                <a:solidFill>
                  <a:srgbClr val="FFFFFF"/>
                </a:solidFill>
                <a:latin typeface="Arial"/>
                <a:ea typeface="Noto Sans JP"/>
                <a:cs typeface="Arial"/>
              </a:rPr>
              <a:t>ことはできるが、失敗を成功に上げることはできない。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8 /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計画 · フェーズ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カウンタが許すまで、顧客には何も届かない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00150"/>
            <a:ext cx="3568700" cy="411480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200150"/>
            <a:ext cx="35687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1314450"/>
            <a:ext cx="3263900" cy="392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Phase 0 — 影行</a:t>
            </a:r>
          </a:p>
          <a:p>
            <a:pPr algn="l">
              <a:lnSpc>
                <a:spcPts val="1420"/>
              </a:lnSpc>
              <a:spcAft>
                <a:spcPts val="600"/>
              </a:spcAft>
            </a:pPr>
            <a:r>
              <a:rPr sz="819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すぐ開始可・リスクゼロ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検知・提案・QC を回し、</a:t>
            </a: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どこにも何も書かない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オーダーのメタ情報が実際どれだけ使えるか、サービス種別ごとに調査する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上位オーダー種の recipe を bioinformatician が書く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• 新規</a:t>
            </a: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オーダーで、提案と実際に回したものを比べる</a:t>
            </a:r>
          </a:p>
          <a:p>
            <a:pPr algn="l">
              <a:lnSpc>
                <a:spcPts val="1420"/>
              </a:lnSpc>
              <a:spcBef>
                <a:spcPts val="600"/>
              </a:spcBef>
            </a:pPr>
            <a:r>
              <a:rPr sz="819" b="0" i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卒業条件：recipe の承認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1650" y="1200150"/>
            <a:ext cx="3568700" cy="411480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1650" y="1200150"/>
            <a:ext cx="35687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4050" y="1314450"/>
            <a:ext cx="3263900" cy="392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Phase 1 — 人間ゲート</a:t>
            </a:r>
          </a:p>
          <a:p>
            <a:pPr algn="l">
              <a:lnSpc>
                <a:spcPts val="1420"/>
              </a:lnSpc>
              <a:spcAft>
                <a:spcPts val="600"/>
              </a:spcAft>
            </a:pPr>
            <a:r>
              <a:rPr sz="819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元アイデアの Phase 1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通知は内部のみ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許可した project × recipe の組だけ、営業時間の期限で自動開始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• 顧客へのリリースには必ず人が入る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AI は顧客向けに何も書かない</a:t>
            </a:r>
          </a:p>
          <a:p>
            <a:pPr algn="l">
              <a:lnSpc>
                <a:spcPts val="1420"/>
              </a:lnSpc>
              <a:spcBef>
                <a:spcPts val="600"/>
              </a:spcBef>
            </a:pPr>
            <a:r>
              <a:rPr sz="819" b="0" i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卒業条件：recipe ごとの実績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1800" y="1200150"/>
            <a:ext cx="3568700" cy="41148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1800" y="1200150"/>
            <a:ext cx="3568700" cy="381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4200" y="1314450"/>
            <a:ext cx="3263900" cy="392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Phase 2 — AI が顧客へ</a:t>
            </a:r>
          </a:p>
          <a:p>
            <a:pPr algn="l">
              <a:lnSpc>
                <a:spcPts val="1420"/>
              </a:lnSpc>
              <a:spcAft>
                <a:spcPts val="600"/>
              </a:spcAft>
            </a:pPr>
            <a:r>
              <a:rPr sz="819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recipe 単位・承認を得て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Phase 1 の条件を満たした recipe だけ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コメントは AI 起草で、その旨を明示する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警告・失敗・保留は引き続き人へ回す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停止スイッチと opt-out は恒久的に残す</a:t>
            </a:r>
          </a:p>
          <a:p>
            <a:pPr algn="l">
              <a:lnSpc>
                <a:spcPts val="1420"/>
              </a:lnSpc>
              <a:spcBef>
                <a:spcPts val="600"/>
              </a:spcBef>
            </a:pPr>
            <a:r>
              <a:rPr sz="819" b="0" i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昇格は実績で得るもの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5429250"/>
            <a:ext cx="11049000" cy="704850"/>
          </a:xfrm>
          <a:prstGeom prst="roundRect">
            <a:avLst>
              <a:gd name="adj" fmla="val 4000"/>
            </a:avLst>
          </a:prstGeom>
          <a:solidFill>
            <a:srgbClr val="00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" y="5524500"/>
            <a:ext cx="105918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1">
                <a:solidFill>
                  <a:srgbClr val="EA6B13"/>
                </a:solidFill>
                <a:latin typeface="Arial"/>
                <a:ea typeface="Noto Sans JP"/>
                <a:cs typeface="Arial"/>
              </a:rPr>
              <a:t>Rules decide · AI assists · Humans release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9 / 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次に必要なこと · 誰に何を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設計を止めている問いは4つ。あとは詳細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00150"/>
            <a:ext cx="2662237" cy="422910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200150"/>
            <a:ext cx="2662237" cy="38100"/>
          </a:xfrm>
          <a:prstGeom prst="rect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1314450"/>
            <a:ext cx="2357437" cy="403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B-Fabric — Falko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• gStore に新データが来たことを、B-Fabric の何を見れば知れるか。</a:t>
            </a: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項目・値・遅延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スタッフのみに見えるコメントは可能か。どのエンティティか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読み取りとコメント投稿に使えるサービスアカウントはあるか</a:t>
            </a:r>
          </a:p>
          <a:p>
            <a:pPr algn="l">
              <a:lnSpc>
                <a:spcPts val="1420"/>
              </a:lnSpc>
              <a:spcBef>
                <a:spcPts val="600"/>
              </a:spcBef>
            </a:pPr>
            <a:r>
              <a:rPr sz="819" b="0" i="1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トリガー層がこれで決まる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7087" y="1200150"/>
            <a:ext cx="2662237" cy="422910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7087" y="1200150"/>
            <a:ext cx="2662237" cy="38100"/>
          </a:xfrm>
          <a:prstGeom prst="rect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9487" y="1314450"/>
            <a:ext cx="2357437" cy="403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メタ情報 — Simon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依頼済み：Service Type / Sequencing Application / Species / Instrument / Library Protocol の精度向上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Ready-made library sequencing が “Custom/Other” では判定に使えない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どの項目を必須化できるか。いつから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2675" y="1200150"/>
            <a:ext cx="2662237" cy="42291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2675" y="1200150"/>
            <a:ext cx="2662237" cy="381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5075" y="1314450"/>
            <a:ext cx="2357437" cy="403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顧客向け文書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ローカルモデル利用の説明文、文面と掲載場所。承認者は誰か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Phase 2 の顧客向けコメントに AI 起草の明示は必要か。UZH / ETH の透明性規定を読む限り、必要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8262" y="1200150"/>
            <a:ext cx="2662237" cy="422910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58262" y="1200150"/>
            <a:ext cx="2662237" cy="381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0662" y="1314450"/>
            <a:ext cx="2357437" cy="403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20"/>
              </a:lnSpc>
            </a:pPr>
            <a:r>
              <a:rPr sz="128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運用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猶予時間を営業時間換算で確定してよいか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パイロット範囲。どのオーダー種、どの project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計算予算・月次上限・低優先キュー（受注ジョブを遅らせないため）</a:t>
            </a:r>
          </a:p>
          <a:p>
            <a:pPr algn="l">
              <a:lnSpc>
                <a:spcPts val="1420"/>
              </a:lnSpc>
              <a:spcAft>
                <a:spcPts val="220"/>
              </a:spcAft>
            </a:pPr>
            <a:r>
              <a:rPr sz="98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• 「結果を顧客へ渡す」の具体形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5543550"/>
            <a:ext cx="11049000" cy="59055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" y="5543550"/>
            <a:ext cx="38100" cy="590550"/>
          </a:xfrm>
          <a:prstGeom prst="rect">
            <a:avLst/>
          </a:prstGeom>
          <a:solidFill>
            <a:srgbClr val="EA6B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900" y="5619750"/>
            <a:ext cx="10744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今決めておきたい構成上の1点：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LLM を呼ぶ場所は既に複数あります（ezRun の M&amp;M モジュール、SAKE の method description）。R / Ruby / Python にまたがるため</a:t>
            </a:r>
            <a:r>
              <a:rPr sz="109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共有ライブラリは作れず、共有できるのはサービスだけ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です。3つ目が生まれる前に1つ決めるのが安いはずです。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Questions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239000" cy="76200"/>
          </a:xfrm>
          <a:prstGeom prst="rect">
            <a:avLst/>
          </a:prstGeom>
          <a:solidFill>
            <a:srgbClr val="003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0" y="0"/>
            <a:ext cx="2857500" cy="76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96500" y="0"/>
            <a:ext cx="2095499" cy="76200"/>
          </a:xfrm>
          <a:prstGeom prst="rect">
            <a:avLst/>
          </a:prstGeom>
          <a:solidFill>
            <a:srgbClr val="4DC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19100"/>
            <a:ext cx="11049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0" b="1">
                <a:solidFill>
                  <a:srgbClr val="0099CC"/>
                </a:solidFill>
                <a:latin typeface="Arial"/>
                <a:ea typeface="Noto Sans JP"/>
                <a:cs typeface="Arial"/>
              </a:rPr>
              <a:t>付録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704850"/>
            <a:ext cx="110490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150"/>
              </a:lnSpc>
            </a:pPr>
            <a:r>
              <a:rPr sz="255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前提条件と依存関係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500" y="1200150"/>
          <a:ext cx="110490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/>
                <a:gridCol w="6477000"/>
                <a:gridCol w="1905000"/>
                <a:gridCol w="2286000"/>
              </a:tblGrid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#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前提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現状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860" b="1">
                          <a:solidFill>
                            <a:srgbClr val="003C68"/>
                          </a:solidFill>
                          <a:latin typeface="Arial"/>
                          <a:ea typeface="Noto Sans JP"/>
                          <a:cs typeface="Arial"/>
                        </a:rPr>
                        <a:t>これが無いと止まるもの</a:t>
                      </a:r>
                    </a:p>
                  </a:txBody>
                  <a:tcPr marL="76200" marR="76200" marT="28575" marB="28575">
                    <a:solidFill>
                      <a:srgbClr val="EEF1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P1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B-Fabric のオーダーメタ情報の精度。判定には使える Service Type / Sequencing Application / Species / Instrument / Library Protocol が必要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Simon へ依頼済み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該当オーダー種の recipe 判定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P2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gStore にデータが来たことを示す B-Fabric 側のシグナル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未確認 — Falko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トリガー層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P3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顧客への説明文の文面と承認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未確認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Phase 1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P4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本番 submit ノードでの SUSHI backend 書き込み経路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現在 read-only。ジョブ取得はテストノードでのみ検証済み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実オーダーでの Phase 1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P5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共有 LLM クライアントのローカルモデル配線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adapter はある。この用途の配線は未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すべての LLM ステップ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P6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B-Fabric のサービスアカウントとコメント可視性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未確認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内部通知チャネル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P7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recipe が使える app の拡大。10x / ONT / PacBio は headless 未検証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16 apps 検証済み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カタログの幅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P8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デーモンを常駐させるサービスホスト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要手配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Phase 1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P9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種 → 参照ゲノムの機械可読ポリシー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現行セレクタに暗黙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パラメータ解決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P10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失敗診断エージェントを人を介さず動かすための実行基盤と安全機構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未整備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128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  <a:ea typeface="Noto Sans JP"/>
                          <a:cs typeface="Arial"/>
                        </a:rPr>
                        <a:t>診断の完全自動化のみ。Phase 1 には不要</a:t>
                      </a:r>
                    </a:p>
                  </a:txBody>
                  <a:tcPr marL="76200" marR="76200" marT="28575" marB="285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71500" y="5676900"/>
            <a:ext cx="11049000" cy="4572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5676900"/>
            <a:ext cx="38100" cy="457200"/>
          </a:xfrm>
          <a:prstGeom prst="rect">
            <a:avLst/>
          </a:prstGeom>
          <a:solidFill>
            <a:srgbClr val="00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5753100"/>
            <a:ext cx="107442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580"/>
              </a:lnSpc>
            </a:pP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本文・図解・出典：</a:t>
            </a:r>
            <a:r>
              <a:rPr sz="1090" b="0">
                <a:solidFill>
                  <a:srgbClr val="000000"/>
                </a:solidFill>
                <a:latin typeface="Consolas"/>
                <a:ea typeface="Noto Sans JP"/>
                <a:cs typeface="Consolas"/>
              </a:rPr>
              <a:t>docs/omakase-auto-analysis-design.md</a:t>
            </a:r>
            <a:r>
              <a:rPr sz="1090" b="0">
                <a:solidFill>
                  <a:srgbClr val="000000"/>
                </a:solidFill>
                <a:latin typeface="Arial"/>
                <a:ea typeface="Noto Sans JP"/>
                <a:cs typeface="Arial"/>
              </a:rPr>
              <a:t> と </a:t>
            </a:r>
            <a:r>
              <a:rPr sz="1090" b="0">
                <a:solidFill>
                  <a:srgbClr val="000000"/>
                </a:solidFill>
                <a:latin typeface="Consolas"/>
                <a:ea typeface="Noto Sans JP"/>
                <a:cs typeface="Consolas"/>
              </a:rPr>
              <a:t>docs/omakase-auto-analysis-overview-ja.html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7000"/>
            <a:ext cx="12192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 tIns="76200" bIns="76200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03C68"/>
                </a:solidFill>
                <a:latin typeface="Arial"/>
                <a:ea typeface="Noto Sans JP"/>
                <a:cs typeface="Arial"/>
              </a:rPr>
              <a:t>FGCZ · GENOMICS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499" y="657225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E69"/>
                </a:solidFill>
                <a:latin typeface="Arial"/>
                <a:ea typeface="Noto Sans JP"/>
                <a:cs typeface="Arial"/>
              </a:rP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